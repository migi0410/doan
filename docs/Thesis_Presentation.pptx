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respected committee members and professors. My name is [Your Name], and today I am honored to present my thesis titled 'Information Extraction from Vietnamese Receipts using Vision-Language Models'.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primary motivation for this research stems from the growing need for automated data entry in accounting and retail. While traditional OCR systems work well on clean, structured documents, they struggle significantly with Vietnamese receipts due to complex linguistic features, diverse layouts, and physical degradation like crumpling or fading.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core objective is to accurately extract key entities such as Store Name, Date, and Total Amount from raw images. The main challenges we face are visual noise, the lack of a standardized layout, skewed text alignment, and most importantly, a severe lack of annotated Vietnamese datasets for training.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Previous approaches in our study evaluated text-only deep learning models like PhoBERT applied to OCR text. While powerful for pure NLP tasks, they fail to capture the 2D spatial layout and visual cues of receipts. This limitation naturally led us to explore Vision-Language Models, which fuse image, text, and layout data simultaneously.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methodology compares several paradigms. We use PhoBERT as our text-only deep learning baseline. Furthermore, we include commercial APIs like GPT-4o and Gemini 1.5 Pro as high-end zero-shot benchmarks. Against these, we propose our fine-tuned models: the discriminative LayoutLM and the generative Qwen2-VL and MiniCPM-V 2.6.</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overcome data scarcity, we built a 3-tier dataset. First, we used the public MC-OCR dataset with 1,546 images as a baseline. Second, we generated 10,000 synthetic receipts with artificial noise like shadows and crumpling for pre-training. Finally, our 'secret weapon' is a custom real-world dataset of around 2,000 images, created by physically printing and photographing the synthetic receipts under various lighting conditions.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first fine-tuned model is LayoutLM, which treats extraction as a token classification task. It uses 2D spatial position embeddings alongside text embeddings. We aligned PaddleOCR bounding boxes with the model's tokenizer to classify each text segment into specific entity categories.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full fine-tuning of Large Vision-Language Models with up to 8 billion parameters requires massive computing power, we utilized Low-Rank Adaptation, or LoRA, freezing the base model and only training a small subset of weights. To further optimize memory, we applied 4-bit quantization. We targeted all linear layers with a LoRA rank of 8 to maximize the model's domain adaptation. The training data was structured in a conversational VQA format, prompting the model to observe the image and output the extracted entities as a structured JSON object.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experiments were conducted using high-performance GPUs. We evaluate model performance using standard information extraction metrics: Precision, Recall, and F1-Score, taking into account both Exact Matches and Partial Matches caused by minor OCR typos.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Based on our final benchmark evaluation, text-only models like PhoBERT struggled without spatial data. While commercial APIs like GPT-4o provided a strong baseline, our fine-tuned models—especially MiniCPM-V 2.6—demonstrated exceptional resilience to noise and achieved the highest F1-Score. LayoutLM also proved to be highly efficient, offering a great balance between speed and accuracy for well-structured regions.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our demonstration, we want to highlight that this isn't just a static extractor. Because it's powered by a Vision-Language Model, we built an interactive interface where users can actually 'chat' with their receipts. We will also show how the system handles extreme edge cases—like inferring a blurred Total Amount by summing up the visible items. Finally, to prove its enterprise readiness, we demonstrate the system's Batch Processing capability: uploading dozens of receipts at once and seamlessly exporting the aggregated data into a unified Excel report.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successfully demonstrated that incorporating spatial and visual features is vastly superior to pure NLP approaches like PhoBERT. Furthermore, by outperforming heavy commercial APIs with our localized, fine-tuned Vision-Language Models, we offer a highly accurate, cost-effective, and private solution for automated accounting in Vietnam.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future work, we plan to expand the dataset to include handwritten invoices and official tax receipts. Additionally, we aim to quantize the heavy MiniCPM-V model for mobile deployment and explore completely OCR-free architectures to reduce pipeline latency.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time and attention. I am now open to any questions you may have.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Information Extraction from Vietnamese Receipts using Vision-Language Models</a:t>
            </a:r>
          </a:p>
        </p:txBody>
      </p:sp>
      <p:sp>
        <p:nvSpPr>
          <p:cNvPr id="3" name="Subtitle 2"/>
          <p:cNvSpPr>
            <a:spLocks noGrp="1"/>
          </p:cNvSpPr>
          <p:nvPr>
            <p:ph type="subTitle" idx="1"/>
          </p:nvPr>
        </p:nvSpPr>
        <p:spPr/>
        <p:txBody>
          <a:bodyPr/>
          <a:lstStyle/>
          <a:p>
            <a:r>
              <a:t>Final Thesis Defense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Introduction &amp; Motivation</a:t>
            </a:r>
          </a:p>
        </p:txBody>
      </p:sp>
      <p:sp>
        <p:nvSpPr>
          <p:cNvPr id="3" name="Content Placeholder 2"/>
          <p:cNvSpPr>
            <a:spLocks noGrp="1"/>
          </p:cNvSpPr>
          <p:nvPr>
            <p:ph idx="1"/>
          </p:nvPr>
        </p:nvSpPr>
        <p:spPr/>
        <p:txBody>
          <a:bodyPr/>
          <a:lstStyle/>
          <a:p>
            <a:r>
              <a:t>The Shift to Digital: Rapid digital transformation in retail and accounting requires automated data entry.</a:t>
            </a:r>
          </a:p>
          <a:p>
            <a:pPr/>
            <a:r>
              <a:t>The Role of Receipts: Receipts are essential for tax auditing, expense tracking, and consumer behavior analysis.</a:t>
            </a:r>
          </a:p>
          <a:p>
            <a:pPr/>
            <a:r>
              <a:t>Why Vietnamese Receipts?</a:t>
            </a:r>
          </a:p>
          <a:p>
            <a:pPr/>
            <a:r>
              <a:t>Complex linguistic features (accents, tones).</a:t>
            </a:r>
          </a:p>
          <a:p>
            <a:pPr/>
            <a:r>
              <a:t>High variance in layouts across different merchants (supermarkets, cafes, convenience stores).</a:t>
            </a:r>
          </a:p>
          <a:p>
            <a:pPr/>
            <a:r>
              <a:t>Susceptibility to physical damage (crumpling, fading, poor lighting).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Problem Statement &amp; Challenges</a:t>
            </a:r>
          </a:p>
        </p:txBody>
      </p:sp>
      <p:sp>
        <p:nvSpPr>
          <p:cNvPr id="3" name="Content Placeholder 2"/>
          <p:cNvSpPr>
            <a:spLocks noGrp="1"/>
          </p:cNvSpPr>
          <p:nvPr>
            <p:ph idx="1"/>
          </p:nvPr>
        </p:nvSpPr>
        <p:spPr/>
        <p:txBody>
          <a:bodyPr/>
          <a:lstStyle/>
          <a:p>
            <a:r>
              <a:t>Core Objective: To accurately extract key information (Store Name, Date, Total Amount, Items, etc.) from raw receipt images.</a:t>
            </a:r>
          </a:p>
          <a:p>
            <a:pPr/>
            <a:r>
              <a:t>Key Challenges:</a:t>
            </a:r>
          </a:p>
          <a:p>
            <a:pPr/>
            <a:r>
              <a:t>1. Visual Noise: Shadows, poor lighting, blurring, and crumpled paper.</a:t>
            </a:r>
          </a:p>
          <a:p>
            <a:pPr/>
            <a:r>
              <a:t>2. Layout Diversity: No standard template for Vietnamese receipts.</a:t>
            </a:r>
          </a:p>
          <a:p>
            <a:pPr/>
            <a:r>
              <a:t>3. Text Density &amp; Alignment: Multiline items, shifted columns, and skewed scans.</a:t>
            </a:r>
          </a:p>
          <a:p>
            <a:pPr/>
            <a:r>
              <a:t>4. Data Scarcity: Lack of large-scale, annotated Vietnamese receipt datasets for training deep learning models.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Related Work &amp; Limitations</a:t>
            </a:r>
          </a:p>
        </p:txBody>
      </p:sp>
      <p:sp>
        <p:nvSpPr>
          <p:cNvPr id="3" name="Content Placeholder 2"/>
          <p:cNvSpPr>
            <a:spLocks noGrp="1"/>
          </p:cNvSpPr>
          <p:nvPr>
            <p:ph idx="1"/>
          </p:nvPr>
        </p:nvSpPr>
        <p:spPr/>
        <p:txBody>
          <a:bodyPr/>
          <a:lstStyle/>
          <a:p>
            <a:r>
              <a:t>Traditional OCR &amp; Rule-based Systems:</a:t>
            </a:r>
          </a:p>
          <a:p>
            <a:pPr/>
            <a:r>
              <a:t>Limitation: Brittle to layout changes; fails on noisy images.</a:t>
            </a:r>
          </a:p>
          <a:p>
            <a:pPr/>
            <a:r>
              <a:t>Text-only Deep Learning (PhoBERT, LSTM/Transformers):</a:t>
            </a:r>
          </a:p>
          <a:p>
            <a:pPr/>
            <a:r>
              <a:t>Approach: Running PhoBERT on OCR-extracted text.</a:t>
            </a:r>
          </a:p>
          <a:p>
            <a:pPr/>
            <a:r>
              <a:t>Limitation: Completely ignores spatial arrangement (2D layout) and visual cues, leading to errors when text lines are misaligned.</a:t>
            </a:r>
          </a:p>
          <a:p>
            <a:pPr/>
            <a:r>
              <a:t>Vision-Language Models (VLMs):</a:t>
            </a:r>
          </a:p>
          <a:p>
            <a:pPr/>
            <a:r>
              <a:t>Advantage: Fuses Text, Layout (Bounding Boxes), and Image features simultaneously for robust understanding.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Proposed Methodology &amp; Baselines</a:t>
            </a:r>
          </a:p>
        </p:txBody>
      </p:sp>
      <p:sp>
        <p:nvSpPr>
          <p:cNvPr id="3" name="Content Placeholder 2"/>
          <p:cNvSpPr>
            <a:spLocks noGrp="1"/>
          </p:cNvSpPr>
          <p:nvPr>
            <p:ph idx="1"/>
          </p:nvPr>
        </p:nvSpPr>
        <p:spPr/>
        <p:txBody>
          <a:bodyPr/>
          <a:lstStyle/>
          <a:p>
            <a:r>
              <a:t>End-to-End Pipeline:</a:t>
            </a:r>
          </a:p>
          <a:p>
            <a:pPr/>
            <a:r>
              <a:t>1. Data Synthesis &amp; Augmentation: Creating a robust dataset with artificial noise.</a:t>
            </a:r>
          </a:p>
          <a:p>
            <a:pPr/>
            <a:r>
              <a:t>2. OCR Engine: Using PaddleOCR for robust text bounding box detection.</a:t>
            </a:r>
          </a:p>
          <a:p>
            <a:pPr/>
            <a:r>
              <a:t>Baseline Models for Comparison:</a:t>
            </a:r>
          </a:p>
          <a:p>
            <a:pPr/>
            <a:r>
              <a:t>Text-only DL: PhoBERT (Token Classification on OCR text).</a:t>
            </a:r>
          </a:p>
          <a:p>
            <a:pPr/>
            <a:r>
              <a:t>Commercial SOTA (Zero-shot): GPT-4o, Gemini 1.5 Pro (used as high-end benchmarks).</a:t>
            </a:r>
          </a:p>
          <a:p>
            <a:pPr/>
            <a:r>
              <a:t>Proposed Fine-Tuned Models:</a:t>
            </a:r>
          </a:p>
          <a:p>
            <a:pPr/>
            <a:r>
              <a:t>LayoutLM: Lightweight, layout-aware token classification (Discriminative).</a:t>
            </a:r>
          </a:p>
          <a:p>
            <a:pPr/>
            <a:r>
              <a:t>Qwen2-VL &amp; MiniCPM-V 2.6: Fine-tuned for generative extraction.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Dataset Preparation</a:t>
            </a:r>
          </a:p>
        </p:txBody>
      </p:sp>
      <p:sp>
        <p:nvSpPr>
          <p:cNvPr id="3" name="Content Placeholder 2"/>
          <p:cNvSpPr>
            <a:spLocks noGrp="1"/>
          </p:cNvSpPr>
          <p:nvPr>
            <p:ph idx="1"/>
          </p:nvPr>
        </p:nvSpPr>
        <p:spPr/>
        <p:txBody>
          <a:bodyPr/>
          <a:lstStyle/>
          <a:p>
            <a:r>
              <a:t>Real Data (MC-OCR 2021): 1,546 images (1,155 Train, 391 Val/Test).</a:t>
            </a:r>
          </a:p>
          <a:p>
            <a:pPr/>
            <a:r>
              <a:t>Synthetic Data Generation:</a:t>
            </a:r>
          </a:p>
          <a:p>
            <a:pPr/>
            <a:r>
              <a:t>Programmatically generated 10,000 receipts mirroring popular Vietnamese brands (Highlands, Phúc Long, WinMart) using HTML/CSS &amp; Playwright.</a:t>
            </a:r>
          </a:p>
          <a:p>
            <a:pPr/>
            <a:r>
              <a:t>Randomized items, prices, and timestamps.</a:t>
            </a:r>
          </a:p>
          <a:p>
            <a:pPr/>
            <a:r>
              <a:t>Real-world Captured Data (Fine-tuning):</a:t>
            </a:r>
          </a:p>
          <a:p>
            <a:pPr/>
            <a:r>
              <a:t>Printed synthetic receipts and captured via phone cameras (~2,000 images across 15 templates) to simulate physical conditions.</a:t>
            </a:r>
          </a:p>
          <a:p>
            <a:pPr/>
            <a:r>
              <a:t>Noise Injection (Crucial Step):</a:t>
            </a:r>
          </a:p>
          <a:p>
            <a:pPr/>
            <a:r>
              <a:t>Simulated real-world conditions on synthetic data: Gaussian Blur, Motion Blur, Shadows, and Crumpling effects.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1: LayoutLM Fine-Tuning (Discriminative)</a:t>
            </a:r>
          </a:p>
        </p:txBody>
      </p:sp>
      <p:sp>
        <p:nvSpPr>
          <p:cNvPr id="3" name="Content Placeholder 2"/>
          <p:cNvSpPr>
            <a:spLocks noGrp="1"/>
          </p:cNvSpPr>
          <p:nvPr>
            <p:ph idx="1"/>
          </p:nvPr>
        </p:nvSpPr>
        <p:spPr/>
        <p:txBody>
          <a:bodyPr/>
          <a:lstStyle/>
          <a:p>
            <a:r>
              <a:t>Architecture: Transformer-based model utilizing 1D Text Embeddings + 2D Spatial Position Embeddings.</a:t>
            </a:r>
          </a:p>
          <a:p>
            <a:pPr/>
            <a:r>
              <a:t>Task: Named Entity Recognition (NER) / Token Classification.</a:t>
            </a:r>
          </a:p>
          <a:p>
            <a:pPr/>
            <a:r>
              <a:t>Target Entities: `SELLER`, `DATE`, `TOTAL_COST`, `ITEM_NAME`, `ITEM_PRICE`.</a:t>
            </a:r>
          </a:p>
          <a:p>
            <a:pPr/>
            <a:r>
              <a:t>Training Setup:</a:t>
            </a:r>
          </a:p>
          <a:p>
            <a:pPr/>
            <a:r>
              <a:t>Optimized via Hugging Face Trainer.</a:t>
            </a:r>
          </a:p>
          <a:p>
            <a:pPr/>
            <a:r>
              <a:t>Custom dataset mapping to align PaddleOCR bounding boxes with sub-word tokens.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Model 2: LVLM Fine-Tuning with LoRA</a:t>
            </a:r>
          </a:p>
        </p:txBody>
      </p:sp>
      <p:sp>
        <p:nvSpPr>
          <p:cNvPr id="3" name="Content Placeholder 2"/>
          <p:cNvSpPr>
            <a:spLocks noGrp="1"/>
          </p:cNvSpPr>
          <p:nvPr>
            <p:ph idx="1"/>
          </p:nvPr>
        </p:nvSpPr>
        <p:spPr/>
        <p:txBody>
          <a:bodyPr/>
          <a:lstStyle/>
          <a:p>
            <a:r>
              <a:t>Why LoRA? (Low-Rank Adaptation): Full fine-tuning of 7B-8B parameter models is computationally unfeasible. LoRA freezes the original weights and only trains a small set of adapter matrices.</a:t>
            </a:r>
          </a:p>
          <a:p>
            <a:pPr/>
            <a:r>
              <a:t>Hardware Optimization:</a:t>
            </a:r>
          </a:p>
          <a:p>
            <a:pPr/>
            <a:r>
              <a:t>Integrated 4-bit Quantization (bitsandbytes) to fit these massive models into consumer GPUs (e.g., Kaggle T4 / RunPod).</a:t>
            </a:r>
          </a:p>
          <a:p>
            <a:pPr/>
            <a:r>
              <a:t>LoRA Hyperparameters:</a:t>
            </a:r>
          </a:p>
          <a:p>
            <a:pPr/>
            <a:r>
              <a:t>`lora_target: all` (Targeting all linear layers for maximum adaptation).</a:t>
            </a:r>
          </a:p>
          <a:p>
            <a:pPr/>
            <a:r>
              <a:t>`lora_rank (r): 8`, `lora_alpha: 16`.</a:t>
            </a:r>
          </a:p>
          <a:p>
            <a:pPr/>
            <a:r>
              <a:t>Data Formatting (ShareGPT):</a:t>
            </a:r>
          </a:p>
          <a:p>
            <a:pPr/>
            <a:r>
              <a:t>Converted raw receipt images into conversational Visual Question Answering (VQA) formats.</a:t>
            </a:r>
          </a:p>
          <a:p>
            <a:pPr/>
            <a:r>
              <a:t>System Prompt: "Extract key information from this Vietnamese receipt into JSON format."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Experiments &amp; Evaluation Metrics</a:t>
            </a:r>
          </a:p>
        </p:txBody>
      </p:sp>
      <p:sp>
        <p:nvSpPr>
          <p:cNvPr id="3" name="Content Placeholder 2"/>
          <p:cNvSpPr>
            <a:spLocks noGrp="1"/>
          </p:cNvSpPr>
          <p:nvPr>
            <p:ph idx="1"/>
          </p:nvPr>
        </p:nvSpPr>
        <p:spPr/>
        <p:txBody>
          <a:bodyPr/>
          <a:lstStyle/>
          <a:p>
            <a:r>
              <a:t>Hardware Environment:</a:t>
            </a:r>
          </a:p>
          <a:p>
            <a:pPr/>
            <a:r>
              <a:t>GPU: [e.g., RunPod RTX 3090 / 4090 / Kaggle P100/T4]</a:t>
            </a:r>
          </a:p>
          <a:p>
            <a:pPr/>
            <a:r>
              <a:t>Frameworks: PyTorch, Hugging Face Transformers, LLaMA-Factory.</a:t>
            </a:r>
          </a:p>
          <a:p>
            <a:pPr/>
            <a:r>
              <a:t>Evaluation Metrics:</a:t>
            </a:r>
          </a:p>
          <a:p>
            <a:pPr/>
            <a:r>
              <a:t>Precision: Correctly extracted entities / Total extracted entities.</a:t>
            </a:r>
          </a:p>
          <a:p>
            <a:pPr/>
            <a:r>
              <a:t>Recall: Correctly extracted entities / Total actual entities.</a:t>
            </a:r>
          </a:p>
          <a:p>
            <a:pPr/>
            <a:r>
              <a:t>F1-Score: Harmonic mean of Precision and Recall.</a:t>
            </a:r>
          </a:p>
          <a:p>
            <a:pPr/>
            <a:r>
              <a:t>Exact Match (EM) vs. Partial Match (for OCR errors).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Results &amp; Discussion</a:t>
            </a:r>
          </a:p>
        </p:txBody>
      </p:sp>
      <p:sp>
        <p:nvSpPr>
          <p:cNvPr id="3" name="Content Placeholder 2"/>
          <p:cNvSpPr>
            <a:spLocks noGrp="1"/>
          </p:cNvSpPr>
          <p:nvPr>
            <p:ph idx="1"/>
          </p:nvPr>
        </p:nvSpPr>
        <p:spPr/>
        <p:txBody>
          <a:bodyPr/>
          <a:lstStyle/>
          <a:p>
            <a:r>
              <a:t>Quantitative Results:</a:t>
            </a:r>
          </a:p>
          <a:p>
            <a:pPr/>
            <a:r>
              <a:t>(Table comparing Final Benchmark Results will be inserted here)</a:t>
            </a:r>
          </a:p>
          <a:p>
            <a:pPr/>
            <a:r>
              <a:t>PhoBERT (Text-only DL): [X]% F1-Score (Expected to struggle with misaligned text).</a:t>
            </a:r>
          </a:p>
          <a:p>
            <a:pPr/>
            <a:r>
              <a:t>Commercial APIs (GPT-4o/Gemini): [Y]% F1-Score (High reasoning but prone to formatting/JSON constraints).</a:t>
            </a:r>
          </a:p>
          <a:p>
            <a:pPr/>
            <a:r>
              <a:t>LayoutLM (Fine-tuned): [Z]% F1-Score (Rapid inference, strong layout awareness).</a:t>
            </a:r>
          </a:p>
          <a:p>
            <a:pPr/>
            <a:r>
              <a:t>Qwen2-VL &amp; MiniCPM-V 2.6 (Fine-tuned): [W]% F1-Score (Expected to achieve the highest accuracy on heavily noisy images).</a:t>
            </a:r>
          </a:p>
          <a:p>
            <a:pPr/>
            <a:r>
              <a:t>Qualitative Analysis:</a:t>
            </a:r>
          </a:p>
          <a:p>
            <a:pPr/>
            <a:r>
              <a:t>Spatial layout is indispensable: LayoutLM easily outperforms text-only models by understanding bounding box coordinates.</a:t>
            </a:r>
          </a:p>
          <a:p>
            <a:pPr/>
            <a:r>
              <a:t>Generative VLMs (MiniCPM-V) demonstrate exceptional reasoning (e.g., inferring the total amount even if the 'Total' keyword was blurred).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Demonstration &amp; Use Cases</a:t>
            </a:r>
          </a:p>
        </p:txBody>
      </p:sp>
      <p:sp>
        <p:nvSpPr>
          <p:cNvPr id="3" name="Content Placeholder 2"/>
          <p:cNvSpPr>
            <a:spLocks noGrp="1"/>
          </p:cNvSpPr>
          <p:nvPr>
            <p:ph idx="1"/>
          </p:nvPr>
        </p:nvSpPr>
        <p:spPr/>
        <p:txBody>
          <a:bodyPr/>
          <a:lstStyle/>
          <a:p>
            <a:r>
              <a:t>Interactive VQA Interface (Chat with Receipt):</a:t>
            </a:r>
          </a:p>
          <a:p>
            <a:pPr/>
            <a:r>
              <a:t>Beyond static JSON extraction, users can query the receipt naturally (e.g., "What is the most expensive item?" or "Does the subtotal match the items?").</a:t>
            </a:r>
          </a:p>
          <a:p>
            <a:pPr/>
            <a:r>
              <a:t>Handling Extreme Edge Cases:</a:t>
            </a:r>
          </a:p>
          <a:p>
            <a:pPr/>
            <a:r>
              <a:t>Faded/Blurred Totals: Showcasing the model's ability to logically infer missing 'Total Cost' by summing up individual item prices.</a:t>
            </a:r>
          </a:p>
          <a:p>
            <a:pPr/>
            <a:r>
              <a:t>Crumpled &amp; Skewed Angles: Demonstrating the robust pipeline (PaddleOCR + VLM) processing heavily distorted mobile uploads.</a:t>
            </a:r>
          </a:p>
          <a:p>
            <a:pPr/>
            <a:r>
              <a:t>End-to-End Pipeline &amp; Integration:</a:t>
            </a:r>
          </a:p>
          <a:p>
            <a:pPr/>
            <a:r>
              <a:t>Batch Processing: Uploading dozens of receipts simultaneously and processing them concurrently.</a:t>
            </a:r>
          </a:p>
          <a:p>
            <a:pPr/>
            <a:r>
              <a:t>One-click export of structured JSON data into a unified, aggregated Excel/CSV report for accounting dashboards.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r>
              <a:t>Summary of Contributions:</a:t>
            </a:r>
          </a:p>
          <a:p>
            <a:pPr/>
            <a:r>
              <a:t>1. Demonstrated the limitations of pure NLP (PhoBERT) for visually rich documents.</a:t>
            </a:r>
          </a:p>
          <a:p>
            <a:pPr/>
            <a:r>
              <a:t>2. Benchmarked cost-effective, fine-tuned VLMs against expensive commercial APIs (GPT-4o, Gemini).</a:t>
            </a:r>
          </a:p>
          <a:p>
            <a:pPr/>
            <a:r>
              <a:t>3. Successfully fine-tuned and compared LayoutLM, Qwen2-VL, and MiniCPM-V.</a:t>
            </a:r>
          </a:p>
          <a:p>
            <a:pPr/>
            <a:r>
              <a:t>4. Proved that fine-tuned LVLMs significantly outperform traditional DL and zero-shot baselines in noisy conditions.</a:t>
            </a:r>
          </a:p>
          <a:p>
            <a:pPr/>
            <a:r>
              <a:t>Practical Impact:</a:t>
            </a:r>
          </a:p>
          <a:p>
            <a:pPr/>
            <a:r>
              <a:t>Highly applicable, private, and cost-effective for automated accounting software in Vietnam.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Future Work</a:t>
            </a:r>
          </a:p>
        </p:txBody>
      </p:sp>
      <p:sp>
        <p:nvSpPr>
          <p:cNvPr id="3" name="Content Placeholder 2"/>
          <p:cNvSpPr>
            <a:spLocks noGrp="1"/>
          </p:cNvSpPr>
          <p:nvPr>
            <p:ph idx="1"/>
          </p:nvPr>
        </p:nvSpPr>
        <p:spPr/>
        <p:txBody>
          <a:bodyPr/>
          <a:lstStyle/>
          <a:p>
            <a:r>
              <a:t>Expanding the Dataset: Incorporating handwritten invoices and diverse tax receipts (Hóa đơn đỏ).</a:t>
            </a:r>
          </a:p>
          <a:p>
            <a:pPr/>
            <a:r>
              <a:t>Model Optimization: Quantizing the MiniCPM-V model (e.g., INT4/GGUF) for mobile deployment.</a:t>
            </a:r>
          </a:p>
          <a:p>
            <a:pPr/>
            <a:r>
              <a:t>End-to-End OCR-free Models: Completely bypassing the external OCR engine (like PaddleOCR) to rely purely on the VLM's internal vision encoder.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Questions &amp; Answers</a:t>
            </a:r>
          </a:p>
          <a:p>
            <a:pPr/>
            <a:r>
              <a:t>Contact Info: [Your Email / GitHub Repo Link]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